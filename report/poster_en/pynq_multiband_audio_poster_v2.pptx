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43660207734cf1" /><Relationship Type="http://schemas.openxmlformats.org/officeDocument/2006/relationships/extended-properties" Target="/docProps/app.xml" Id="Re0e4e0938bc845bc" /><Relationship Type="http://schemas.openxmlformats.org/officeDocument/2006/relationships/officeDocument" Target="/ppt/presentation.xml" Id="Rb55b9d69c4a24c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a36faa187f4259"/>
  </p:sldMasterIdLst>
  <p:notesMasterIdLst>
    <p:notesMasterId xmlns:r="http://schemas.openxmlformats.org/officeDocument/2006/relationships" r:id="Rc3265647717e45d2"/>
  </p:notesMasterIdLst>
  <p:sldIdLst>
    <p:sldId xmlns:r="http://schemas.openxmlformats.org/officeDocument/2006/relationships" id="256" r:id="R0ab5f98ef2d942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932118078248c8" /><Relationship Type="http://schemas.openxmlformats.org/officeDocument/2006/relationships/slideMaster" Target="/ppt/slideMasters/slideMaster1.xml" Id="Reea36faa187f4259" /><Relationship Type="http://schemas.openxmlformats.org/officeDocument/2006/relationships/notesMaster" Target="/ppt/notesMasters/notesMaster1.xml" Id="Rc3265647717e45d2" /><Relationship Type="http://schemas.openxmlformats.org/officeDocument/2006/relationships/presProps" Target="/ppt/presProps.xml" Id="R83e4fd0d371945d5" /><Relationship Type="http://schemas.openxmlformats.org/officeDocument/2006/relationships/tableStyles" Target="/ppt/tableStyles.xml" Id="Rd499074724e34149" /><Relationship Type="http://schemas.openxmlformats.org/officeDocument/2006/relationships/slide" Target="/ppt/slides/slide1.xml" Id="R0ab5f98ef2d942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80491da45247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9b56343ec64f42" /><Relationship Type="http://schemas.openxmlformats.org/officeDocument/2006/relationships/notesMaster" Target="/ppt/notesMasters/notesMaster1.xml" Id="R81950ef9b4c748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src/python/band_design.py; data/results/baseline_metrics.md (local Python run, 2026-10-01); data/results/impl_metrics.md (193-tap HLS out-of-context implementation); data/results/accel_cpu_vs_fpga.md and data/results/fir_audio_loop_run_20261001.txt (board results). The 449-cycle and resource chart figures are core-only out-of-context results. The core is also integrated in the board audio overlay; board throughput is 0.317 µs/sample for the PL core versus 6.199 µs/sample for ARM scipy (Q1.15 vs float64, a 19.5x ratio, and not a maximum CPU comparison). Bypass passed on 144,000 captured samples. Live microphone monitoring works as of 2026-10-15: a 40 s duplex run carried 4,000 blocks at 1.00x real time with a bit-exact 960,000/960,000 self-check, in-core level rms median 107 / peak 24,076, and the operator heard the processed voice. Scope: that run used 0.0 dB on all four band gains, so it demonstrates the audio path rather than the four-band effect, and about 18 blocks were dropped over the 40 s because the audio IP has no DMA. The four-band effect itself was demonstrated in a second 2026-10-15 run: six live writes to the band gains inside one continuous 66 s stream, one band alternating 0.0 dB and -41.9 dB, all applied, self-check still bit-exact 960,000/960,000 across eight gain changes, 1.00x, operator heard several distinct changes (data/results/fir_gain_ab_run_20261015.txt). A symmetric +6/0/0/-6 setting was tried first and was inaudible because total loudness barely changed. fir_audio_loop.py still produces the four comparison wav files block by block; fir_live.py runs the continuous live duplex stream. Toolchain: PYNQ 2.7.0, Vivado/Vitis HLS 2020.2. The 2.00 ms value is FIR group delay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9a0274158547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26f81856834d86" /><Relationship Type="http://schemas.openxmlformats.org/officeDocument/2006/relationships/slideLayout" Target="/ppt/slideLayouts/slideLayout1.xml" Id="Rac6a1a1f635749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6a1a1f635749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a9644082145dd" /><Relationship Type="http://schemas.openxmlformats.org/officeDocument/2006/relationships/chart" Target="/ppt/slides/charts/chart1.xml" Id="Raf9b6cd2d0344e7c" /><Relationship Type="http://schemas.openxmlformats.org/officeDocument/2006/relationships/notesSlide" Target="/ppt/notesSlides/notesSlide1.xml" Id="R6a16682655a74a4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Device resources</c:v>
          </c:tx>
          <c:spPr>
            <a:solidFill xmlns:a="http://schemas.openxmlformats.org/drawingml/2006/main">
              <a:srgbClr val="087E8B"/>
            </a:solidFill>
          </c:spPr>
          <c:cat>
            <c:strRef>
              <c:f>'Chart Data'!$A$2:$A$5</c:f>
              <c:strCache>
                <c:ptCount val="4"/>
                <c:pt idx="0">
                  <c:v>LUT</c:v>
                </c:pt>
                <c:pt idx="1">
                  <c:v>Flip-flops</c:v>
                </c:pt>
                <c:pt idx="2">
                  <c:v>DSP</c:v>
                </c:pt>
                <c:pt idx="3">
                  <c:v>BRAM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7.5</c:v>
                </c:pt>
                <c:pt idx="1">
                  <c:v>5.2</c:v>
                </c:pt>
                <c:pt idx="2">
                  <c:v>91.8</c:v>
                </c:pt>
                <c:pt idx="3">
                  <c:v>36.8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29DF3E-D67E-41B9-A985-A60E0DD9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99034-1531-4BBD-8CA0-D72C9C4A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PYNQ-Z2 Multiband Audio Processing Accelerator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D09B0-146B-4235-9814-A7036E34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8E7F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E7F4"/>
                </a:solidFill>
                <a:latin typeface="Arial"/>
                <a:ea typeface="Arial"/>
                <a:cs typeface="Arial"/>
              </a:rPr>
              <a:t>A Python reference and HLS FIR core for four-band dynamic-range compression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6A522-E443-449C-937C-A88A2200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28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193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52F41-57C9-4A78-9D8D-ECC26681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055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0556B"/>
                </a:solidFill>
                <a:latin typeface="Arial"/>
                <a:ea typeface="Arial"/>
                <a:cs typeface="Arial"/>
              </a:rPr>
              <a:t>FIR taps per low-pass filter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68E29-33B6-4882-BBB8-77E6642B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573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98"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2.00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6E0BC-1925-4072-B81D-E732D2C6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812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097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055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0556B"/>
                </a:solidFill>
                <a:latin typeface="Arial"/>
                <a:ea typeface="Arial"/>
                <a:cs typeface="Arial"/>
              </a:rPr>
              <a:t>96-sample FIR group delay at 48 kHz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3BBD5-BE97-420F-88B2-D7445F33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573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98"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449 cycles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5E625-BCF5-4950-AEEB-816CB102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812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055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0556B"/>
                </a:solidFill>
                <a:latin typeface="Arial"/>
                <a:ea typeface="Arial"/>
                <a:cs typeface="Arial"/>
              </a:rPr>
              <a:t>HLS schedule per 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B8B7B-72F8-456B-8E46-8D74F6E5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Subtractive crossover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4DE43-6742-4876-994D-1881A5E4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5381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Three linear-phase low-pass filters form four adjacent bands. The bands sum to the input delayed by 96 samples before compression.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0FBF8-EEEC-48B2-B561-ABC3E58A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Edges: 500 Hz, 1 kHz, 2 kHz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3EBF7-8303-49A1-89C2-9F1B0D34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0075"/>
            <a:ext cx="5334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b1 = LP500</a:t>
            </a:r>
          </a:p>
          <a:p xmlns:a="http://schemas.openxmlformats.org/drawingml/2006/main">
            <a:pPr>
              <a:buNone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b2 = LP1000 - LP500</a:t>
            </a:r>
          </a:p>
          <a:p xmlns:a="http://schemas.openxmlformats.org/drawingml/2006/main">
            <a:pPr>
              <a:buNone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b3 = LP2000 - LP1000</a:t>
            </a:r>
          </a:p>
          <a:p xmlns:a="http://schemas.openxmlformats.org/drawingml/2006/main">
            <a:pPr>
              <a:buNone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b4 = delayed input - LP2000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86099-A063-4E95-B7B5-7CBCC1D9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HLS core resource 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C61FB-D294-4586-BFCE-EB6798DB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337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0556B"/>
                </a:solidFill>
                <a:latin typeface="Arial"/>
                <a:ea typeface="Arial"/>
                <a:cs typeface="Arial"/>
              </a:rPr>
              <a:t>Out-of-context implementation, 100 MHz clock constraint</a:t>
            </a:r>
          </a:p>
        </p:txBody>
      </p:sp>
      <p:graphicFrame>
        <p:nvGraphicFramePr>
          <p:cNvPr id="37" name="Chart"/>
          <p:cNvGraphicFramePr/>
          <p:nvPr/>
        </p:nvGraphicFramePr>
        <p:xfrm>
          <a:off xmlns:a="http://schemas.openxmlformats.org/drawingml/2006/main" x="6457950" y="3467100"/>
          <a:ext xmlns:a="http://schemas.openxmlformats.org/drawingml/2006/main" cx="51435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9b6cd2d0344e7c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02A37-F2AA-4BBC-96E6-947A1901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D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23E292-6477-42C2-84EC-2BD60235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Python run: 10.58 s audio processed in 100.7 ms on the local desktop (best of 5). This is not an FPGA speedup comparison.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34F9F8-77AD-479D-B1C6-94035C50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1030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A4B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4B12"/>
                </a:solidFill>
                <a:latin typeface="Arial"/>
                <a:ea typeface="Arial"/>
                <a:cs typeface="Arial"/>
              </a:rPr>
              <a:t>Block-by-block board path. PL 0.317 µs/sample vs ARM scipy C 6.199 µs (19.5×; Q1.15 vs float64; no NEON).</a:t>
            </a:r>
          </a:p>
          <a:p xmlns:a="http://schemas.openxmlformats.org/drawingml/2006/main">
            <a:pPr>
              <a:buNone/>
              <a:defRPr sz="1350" b="1">
                <a:solidFill>
                  <a:srgbClr val="9A4B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4B12"/>
                </a:solidFill>
                <a:latin typeface="Arial"/>
                <a:ea typeface="Arial"/>
                <a:cs typeface="Arial"/>
              </a:rPr>
              <a:t>Bypass: 144k samples, zero mismatches. Live mic -&gt; core -&gt; headphone: 1.00x real time (40 s, bit-exact), still bit-exact across live per-band gain changes (66 s, 6 writes; heard). PYNQ 2.7.0 + Vivado/Vitis HLS 2020.2.</a:t>
            </a:r>
          </a:p>
        </p:txBody>
      </p:sp>
    </p:spTree>
    <p:extLst>
      <p:ext uri="{BB962C8B-B14F-4D97-AF65-F5344CB8AC3E}">
        <p14:creationId xmlns:p14="http://schemas.microsoft.com/office/powerpoint/2010/main" val="16796270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2026-10-01T15:32:06.2890000Z</dcterms:created>
  <dcterms:modified xsi:type="dcterms:W3CDTF">2026-10-01T15:32:06.2890000Z</dcterms:modified>
</coreProperties>
</file>